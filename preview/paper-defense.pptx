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1_topbar"/>
          <p:cNvSpPr/>
          <p:nvPr/>
        </p:nvSpPr>
        <p:spPr>
          <a:xfrm>
            <a:off x="0" y="0"/>
            <a:ext cx="18288000" cy="1714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1_goldline"/>
          <p:cNvSpPr/>
          <p:nvPr/>
        </p:nvSpPr>
        <p:spPr>
          <a:xfrm>
            <a:off x="0" y="17145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1_botbar"/>
          <p:cNvSpPr/>
          <p:nvPr/>
        </p:nvSpPr>
        <p:spPr>
          <a:xfrm>
            <a:off x="0" y="914400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rawio2pptx:shape:p1_botgold"/>
          <p:cNvSpPr/>
          <p:nvPr/>
        </p:nvSpPr>
        <p:spPr>
          <a:xfrm>
            <a:off x="0" y="908685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rawio2pptx:shape:p1_school"/>
          <p:cNvSpPr/>
          <p:nvPr/>
        </p:nvSpPr>
        <p:spPr>
          <a:xfrm>
            <a:off x="1143000" y="571500"/>
            <a:ext cx="381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FFFFFF"/>
                </a:solidFill>
                <a:latin typeface="微软雅黑"/>
              </a:rPr>
              <a:t>XX大学</a:t>
            </a:r>
          </a:p>
        </p:txBody>
      </p:sp>
      <p:sp>
        <p:nvSpPr>
          <p:cNvPr id="8" name="drawio2pptx:shape:p1_type"/>
          <p:cNvSpPr/>
          <p:nvPr/>
        </p:nvSpPr>
        <p:spPr>
          <a:xfrm>
            <a:off x="13335000" y="571500"/>
            <a:ext cx="381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C9A84C"/>
                </a:solidFill>
                <a:latin typeface="微软雅黑"/>
              </a:rPr>
              <a:t>硕士学位论文答辩</a:t>
            </a:r>
          </a:p>
        </p:txBody>
      </p:sp>
      <p:sp>
        <p:nvSpPr>
          <p:cNvPr id="9" name="drawio2pptx:shape:p1_title"/>
          <p:cNvSpPr/>
          <p:nvPr/>
        </p:nvSpPr>
        <p:spPr>
          <a:xfrm>
            <a:off x="1524000" y="2476500"/>
            <a:ext cx="15240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u="none">
                <a:solidFill>
                  <a:srgbClr val="1A1A2E"/>
                </a:solidFill>
                <a:latin typeface="微软雅黑"/>
              </a:rPr>
              <a:t>基于深度学习与多传感器融合的
自动驾驶路径规划方法研究</a:t>
            </a:r>
          </a:p>
        </p:txBody>
      </p:sp>
      <p:sp>
        <p:nvSpPr>
          <p:cNvPr id="10" name="drawio2pptx:shape:p1_divider"/>
          <p:cNvSpPr/>
          <p:nvPr/>
        </p:nvSpPr>
        <p:spPr>
          <a:xfrm>
            <a:off x="5334000" y="4667250"/>
            <a:ext cx="7620000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rawio2pptx:shape:p1_info"/>
          <p:cNvSpPr/>
          <p:nvPr/>
        </p:nvSpPr>
        <p:spPr>
          <a:xfrm>
            <a:off x="3429000" y="4953000"/>
            <a:ext cx="1143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4A5568"/>
                </a:solidFill>
                <a:latin typeface="微软雅黑"/>
              </a:rPr>
              <a:t>汇报人：XXX　　　指导老师：XXX 教授</a:t>
            </a:r>
          </a:p>
        </p:txBody>
      </p:sp>
      <p:sp>
        <p:nvSpPr>
          <p:cNvPr id="12" name="drawio2pptx:shape:p1_dept"/>
          <p:cNvSpPr/>
          <p:nvPr/>
        </p:nvSpPr>
        <p:spPr>
          <a:xfrm>
            <a:off x="3429000" y="5619750"/>
            <a:ext cx="1143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计算机科学与技术学院　　计算机视觉 / 人工智能方向</a:t>
            </a:r>
          </a:p>
        </p:txBody>
      </p:sp>
      <p:sp>
        <p:nvSpPr>
          <p:cNvPr id="13" name="drawio2pptx:shape:p1_date"/>
          <p:cNvSpPr/>
          <p:nvPr/>
        </p:nvSpPr>
        <p:spPr>
          <a:xfrm>
            <a:off x="7239000" y="6191250"/>
            <a:ext cx="3810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Calibri"/>
              </a:rPr>
              <a:t>2026 年 3 月</a:t>
            </a:r>
          </a:p>
        </p:txBody>
      </p:sp>
      <p:sp>
        <p:nvSpPr>
          <p:cNvPr id="14" name="drawio2pptx:shape:p1_footer"/>
          <p:cNvSpPr/>
          <p:nvPr/>
        </p:nvSpPr>
        <p:spPr>
          <a:xfrm>
            <a:off x="5334000" y="9286875"/>
            <a:ext cx="762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微软雅黑"/>
              </a:rPr>
              <a:t>自动驾驶路径规划 | 深度学习 | 多传感器融合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2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2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2_titletext"/>
          <p:cNvSpPr/>
          <p:nvPr/>
        </p:nvSpPr>
        <p:spPr>
          <a:xfrm>
            <a:off x="1143000" y="190500"/>
            <a:ext cx="2857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6" name="drawio2pptx:shape:p2_entitle"/>
          <p:cNvSpPr/>
          <p:nvPr/>
        </p:nvSpPr>
        <p:spPr>
          <a:xfrm>
            <a:off x="1143000" y="1333500"/>
            <a:ext cx="2857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9A84C"/>
                </a:solidFill>
                <a:latin typeface="Georgia"/>
              </a:rPr>
              <a:t>CONTENTS</a:t>
            </a:r>
          </a:p>
        </p:txBody>
      </p:sp>
      <p:sp>
        <p:nvSpPr>
          <p:cNvPr id="7" name="drawio2pptx:shape:p2_badge1"/>
          <p:cNvSpPr/>
          <p:nvPr/>
        </p:nvSpPr>
        <p:spPr>
          <a:xfrm>
            <a:off x="1143000" y="2095500"/>
            <a:ext cx="762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2_item1"/>
          <p:cNvSpPr/>
          <p:nvPr/>
        </p:nvSpPr>
        <p:spPr>
          <a:xfrm>
            <a:off x="1524000" y="2095500"/>
            <a:ext cx="6667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01　研究背景与意义</a:t>
            </a:r>
          </a:p>
        </p:txBody>
      </p:sp>
      <p:sp>
        <p:nvSpPr>
          <p:cNvPr id="9" name="drawio2pptx:shape:p2_badge2"/>
          <p:cNvSpPr/>
          <p:nvPr/>
        </p:nvSpPr>
        <p:spPr>
          <a:xfrm>
            <a:off x="1143000" y="2819400"/>
            <a:ext cx="762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p2_item2"/>
          <p:cNvSpPr/>
          <p:nvPr/>
        </p:nvSpPr>
        <p:spPr>
          <a:xfrm>
            <a:off x="1524000" y="2819400"/>
            <a:ext cx="6667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02　相关理论基础</a:t>
            </a:r>
          </a:p>
        </p:txBody>
      </p:sp>
      <p:sp>
        <p:nvSpPr>
          <p:cNvPr id="11" name="drawio2pptx:shape:p2_badge3"/>
          <p:cNvSpPr/>
          <p:nvPr/>
        </p:nvSpPr>
        <p:spPr>
          <a:xfrm>
            <a:off x="1143000" y="3543300"/>
            <a:ext cx="762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rawio2pptx:shape:p2_item3"/>
          <p:cNvSpPr/>
          <p:nvPr/>
        </p:nvSpPr>
        <p:spPr>
          <a:xfrm>
            <a:off x="1524000" y="3543300"/>
            <a:ext cx="8572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03　方法创新（深度强化学习 + 多传感器融合）</a:t>
            </a:r>
          </a:p>
        </p:txBody>
      </p:sp>
      <p:sp>
        <p:nvSpPr>
          <p:cNvPr id="13" name="drawio2pptx:shape:p2_badge4"/>
          <p:cNvSpPr/>
          <p:nvPr/>
        </p:nvSpPr>
        <p:spPr>
          <a:xfrm>
            <a:off x="1143000" y="4267200"/>
            <a:ext cx="762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rawio2pptx:shape:p2_item4"/>
          <p:cNvSpPr/>
          <p:nvPr/>
        </p:nvSpPr>
        <p:spPr>
          <a:xfrm>
            <a:off x="1524000" y="4267200"/>
            <a:ext cx="6667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04　核心创新点</a:t>
            </a:r>
          </a:p>
        </p:txBody>
      </p:sp>
      <p:sp>
        <p:nvSpPr>
          <p:cNvPr id="15" name="drawio2pptx:shape:p2_badge5"/>
          <p:cNvSpPr/>
          <p:nvPr/>
        </p:nvSpPr>
        <p:spPr>
          <a:xfrm>
            <a:off x="1143000" y="4991100"/>
            <a:ext cx="762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rawio2pptx:shape:p2_item5"/>
          <p:cNvSpPr/>
          <p:nvPr/>
        </p:nvSpPr>
        <p:spPr>
          <a:xfrm>
            <a:off x="1524000" y="4991100"/>
            <a:ext cx="6667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05　系统设计与实现</a:t>
            </a:r>
          </a:p>
        </p:txBody>
      </p:sp>
      <p:sp>
        <p:nvSpPr>
          <p:cNvPr id="17" name="drawio2pptx:shape:p2_badge6"/>
          <p:cNvSpPr/>
          <p:nvPr/>
        </p:nvSpPr>
        <p:spPr>
          <a:xfrm>
            <a:off x="1143000" y="5715000"/>
            <a:ext cx="762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rawio2pptx:shape:p2_item6"/>
          <p:cNvSpPr/>
          <p:nvPr/>
        </p:nvSpPr>
        <p:spPr>
          <a:xfrm>
            <a:off x="1524000" y="5715000"/>
            <a:ext cx="6667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06　实验结果与总结展望</a:t>
            </a:r>
          </a:p>
        </p:txBody>
      </p:sp>
      <p:sp>
        <p:nvSpPr>
          <p:cNvPr id="19" name="drawio2pptx:shape:p2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rawio2pptx:shape:p2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3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3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3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3_titletext"/>
          <p:cNvSpPr/>
          <p:nvPr/>
        </p:nvSpPr>
        <p:spPr>
          <a:xfrm>
            <a:off x="1143000" y="190500"/>
            <a:ext cx="8572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FFFFFF"/>
                </a:solidFill>
                <a:latin typeface="微软雅黑"/>
              </a:rPr>
              <a:t>01　研究背景与意义</a:t>
            </a:r>
          </a:p>
        </p:txBody>
      </p:sp>
      <p:sp>
        <p:nvSpPr>
          <p:cNvPr id="6" name="drawio2pptx:shape:p3_entitle"/>
          <p:cNvSpPr/>
          <p:nvPr/>
        </p:nvSpPr>
        <p:spPr>
          <a:xfrm>
            <a:off x="1143000" y="1295400"/>
            <a:ext cx="5715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C9A84C"/>
                </a:solidFill>
                <a:latin typeface="Georgia"/>
              </a:rPr>
              <a:t>BACKGROUND &amp; MOTIVATION</a:t>
            </a:r>
          </a:p>
        </p:txBody>
      </p:sp>
      <p:sp>
        <p:nvSpPr>
          <p:cNvPr id="7" name="drawio2pptx:shape:p3_card1"/>
          <p:cNvSpPr/>
          <p:nvPr/>
        </p:nvSpPr>
        <p:spPr>
          <a:xfrm>
            <a:off x="762000" y="1857375"/>
            <a:ext cx="8191500" cy="37147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3_card1title"/>
          <p:cNvSpPr/>
          <p:nvPr/>
        </p:nvSpPr>
        <p:spPr>
          <a:xfrm>
            <a:off x="1143000" y="2047875"/>
            <a:ext cx="2857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C9A84C"/>
                </a:solidFill>
                <a:latin typeface="微软雅黑"/>
              </a:rPr>
              <a:t>研究背景</a:t>
            </a:r>
          </a:p>
        </p:txBody>
      </p:sp>
      <p:sp>
        <p:nvSpPr>
          <p:cNvPr id="9" name="drawio2pptx:shape:p3_card1body"/>
          <p:cNvSpPr/>
          <p:nvPr/>
        </p:nvSpPr>
        <p:spPr>
          <a:xfrm>
            <a:off x="1143000" y="2552700"/>
            <a:ext cx="7620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微软雅黑"/>
              </a:rPr>
              <a:t>• 自动驾驶是人工智能与交通领域前沿交叉方向，市场规模高速增长
• 路径规划是自动驾驶核心模块，直接决定行驶安全性与效率
• 复杂动态环境（动态障碍、交通标志）对路径规划提出更高要求
• 传统基于规则/模型的方法泛化能力有限，难以应对高度复杂场景</a:t>
            </a:r>
          </a:p>
        </p:txBody>
      </p:sp>
      <p:sp>
        <p:nvSpPr>
          <p:cNvPr id="10" name="drawio2pptx:shape:p3_card2"/>
          <p:cNvSpPr/>
          <p:nvPr/>
        </p:nvSpPr>
        <p:spPr>
          <a:xfrm>
            <a:off x="9334500" y="1857375"/>
            <a:ext cx="8191500" cy="37147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rawio2pptx:shape:p3_card2title"/>
          <p:cNvSpPr/>
          <p:nvPr/>
        </p:nvSpPr>
        <p:spPr>
          <a:xfrm>
            <a:off x="9677400" y="2047875"/>
            <a:ext cx="2857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C9A84C"/>
                </a:solidFill>
                <a:latin typeface="微软雅黑"/>
              </a:rPr>
              <a:t>研究现状</a:t>
            </a:r>
          </a:p>
        </p:txBody>
      </p:sp>
      <p:sp>
        <p:nvSpPr>
          <p:cNvPr id="12" name="drawio2pptx:shape:p3_card2body"/>
          <p:cNvSpPr/>
          <p:nvPr/>
        </p:nvSpPr>
        <p:spPr>
          <a:xfrm>
            <a:off x="9677400" y="2552700"/>
            <a:ext cx="7620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FFFFF"/>
                </a:solidFill>
                <a:latin typeface="微软雅黑"/>
              </a:rPr>
              <a:t>• 基于模型规划（A*、RRT）：计算效率高，但动态适应能力差
• 基于数据驱动（DRL）：自适应能力强，但训练成本高
• 单一传感器局限：摄像头受光照影响，激光雷达缺乏语义
• 多传感器融合 + DRL 结合方案尚不完善，是本文切入点</a:t>
            </a:r>
          </a:p>
        </p:txBody>
      </p:sp>
      <p:sp>
        <p:nvSpPr>
          <p:cNvPr id="13" name="drawio2pptx:shape:p3_arrow"/>
          <p:cNvSpPr/>
          <p:nvPr/>
        </p:nvSpPr>
        <p:spPr>
          <a:xfrm>
            <a:off x="6286500" y="5886450"/>
            <a:ext cx="5715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9A84C"/>
                </a:solidFill>
                <a:latin typeface="微软雅黑"/>
              </a:rPr>
              <a:t>▼　核心研究问题</a:t>
            </a:r>
          </a:p>
        </p:txBody>
      </p:sp>
      <p:sp>
        <p:nvSpPr>
          <p:cNvPr id="14" name="drawio2pptx:shape:p3_problem"/>
          <p:cNvSpPr/>
          <p:nvPr/>
        </p:nvSpPr>
        <p:spPr>
          <a:xfrm>
            <a:off x="2667000" y="6400800"/>
            <a:ext cx="12954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如何将深度强化学习与多传感器融合相结合，实现复杂环境下高精度、强鲁棒性的自动驾驶路径规划？</a:t>
            </a:r>
          </a:p>
        </p:txBody>
      </p:sp>
      <p:sp>
        <p:nvSpPr>
          <p:cNvPr id="15" name="drawio2pptx:shape:p3_divline"/>
          <p:cNvSpPr/>
          <p:nvPr/>
        </p:nvSpPr>
        <p:spPr>
          <a:xfrm>
            <a:off x="2667000" y="6362700"/>
            <a:ext cx="12954000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rawio2pptx:shape:p3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rawio2pptx:shape:p3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4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4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4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4_titletext"/>
          <p:cNvSpPr/>
          <p:nvPr/>
        </p:nvSpPr>
        <p:spPr>
          <a:xfrm>
            <a:off x="1143000" y="190500"/>
            <a:ext cx="7620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FFFFFF"/>
                </a:solidFill>
                <a:latin typeface="微软雅黑"/>
              </a:rPr>
              <a:t>02　相关理论基础</a:t>
            </a:r>
          </a:p>
        </p:txBody>
      </p:sp>
      <p:sp>
        <p:nvSpPr>
          <p:cNvPr id="6" name="drawio2pptx:shape:p4_entitle"/>
          <p:cNvSpPr/>
          <p:nvPr/>
        </p:nvSpPr>
        <p:spPr>
          <a:xfrm>
            <a:off x="1143000" y="1295400"/>
            <a:ext cx="5715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C9A84C"/>
                </a:solidFill>
                <a:latin typeface="Georgia"/>
              </a:rPr>
              <a:t>THEORETICAL FOUNDATION</a:t>
            </a:r>
          </a:p>
        </p:txBody>
      </p:sp>
      <p:sp>
        <p:nvSpPr>
          <p:cNvPr id="7" name="drawio2pptx:shape:p4_col1"/>
          <p:cNvSpPr/>
          <p:nvPr/>
        </p:nvSpPr>
        <p:spPr>
          <a:xfrm>
            <a:off x="762000" y="1809750"/>
            <a:ext cx="5334000" cy="5905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4_col1t"/>
          <p:cNvSpPr/>
          <p:nvPr/>
        </p:nvSpPr>
        <p:spPr>
          <a:xfrm>
            <a:off x="952500" y="2000250"/>
            <a:ext cx="495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C9A84C"/>
                </a:solidFill>
                <a:latin typeface="微软雅黑"/>
              </a:rPr>
              <a:t>深度强化学习（DRL）</a:t>
            </a:r>
          </a:p>
        </p:txBody>
      </p:sp>
      <p:sp>
        <p:nvSpPr>
          <p:cNvPr id="9" name="drawio2pptx:shape:p4_col1b"/>
          <p:cNvSpPr/>
          <p:nvPr/>
        </p:nvSpPr>
        <p:spPr>
          <a:xfrm>
            <a:off x="952500" y="2571750"/>
            <a:ext cx="4953000" cy="476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• DDPG（深度确定性策略梯度）：连续动作空间，适合驾驶控制
• A3C（异步优势演员-评论员）：并行训练，收敛速度快
• 奖励函数设计：到达目标 +1，碰撞 -1，偏离车道 -0.5
• 状态空间：传感器融合特征 + 车辆状态向量
• 优势：无需显式建模，自适应复杂动态环境</a:t>
            </a:r>
          </a:p>
        </p:txBody>
      </p:sp>
      <p:sp>
        <p:nvSpPr>
          <p:cNvPr id="10" name="drawio2pptx:shape:p4_col2"/>
          <p:cNvSpPr/>
          <p:nvPr/>
        </p:nvSpPr>
        <p:spPr>
          <a:xfrm>
            <a:off x="6477000" y="1809750"/>
            <a:ext cx="5334000" cy="5905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rawio2pptx:shape:p4_col2t"/>
          <p:cNvSpPr/>
          <p:nvPr/>
        </p:nvSpPr>
        <p:spPr>
          <a:xfrm>
            <a:off x="6667500" y="2000250"/>
            <a:ext cx="495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C9A84C"/>
                </a:solidFill>
                <a:latin typeface="微软雅黑"/>
              </a:rPr>
              <a:t>多传感器融合技术</a:t>
            </a:r>
          </a:p>
        </p:txBody>
      </p:sp>
      <p:sp>
        <p:nvSpPr>
          <p:cNvPr id="12" name="drawio2pptx:shape:p4_col2b"/>
          <p:cNvSpPr/>
          <p:nvPr/>
        </p:nvSpPr>
        <p:spPr>
          <a:xfrm>
            <a:off x="6667500" y="2571750"/>
            <a:ext cx="4953000" cy="476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• 激光雷达（LiDAR）：高精度 3D 点云，但缺乏颜色/纹理
• 摄像头（Camera）：丰富语义信息，受光照天气影响
• 毫米波雷达（mmWave）：全天候测速测距，分辨率低
• 融合策略：前融合（原始数据）→ 特征融合（CNN/RNN）
• 互补优势：弥补单一传感器的盲区与缺陷</a:t>
            </a:r>
          </a:p>
        </p:txBody>
      </p:sp>
      <p:sp>
        <p:nvSpPr>
          <p:cNvPr id="13" name="drawio2pptx:shape:p4_col3"/>
          <p:cNvSpPr/>
          <p:nvPr/>
        </p:nvSpPr>
        <p:spPr>
          <a:xfrm>
            <a:off x="12192000" y="1809750"/>
            <a:ext cx="5334000" cy="5905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rawio2pptx:shape:p4_col3t"/>
          <p:cNvSpPr/>
          <p:nvPr/>
        </p:nvSpPr>
        <p:spPr>
          <a:xfrm>
            <a:off x="12382500" y="2000250"/>
            <a:ext cx="4953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C9A84C"/>
                </a:solidFill>
                <a:latin typeface="微软雅黑"/>
              </a:rPr>
              <a:t>数据集与评价指标</a:t>
            </a:r>
          </a:p>
        </p:txBody>
      </p:sp>
      <p:sp>
        <p:nvSpPr>
          <p:cNvPr id="15" name="drawio2pptx:shape:p4_col3b"/>
          <p:cNvSpPr/>
          <p:nvPr/>
        </p:nvSpPr>
        <p:spPr>
          <a:xfrm>
            <a:off x="12382500" y="2571750"/>
            <a:ext cx="4953000" cy="476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• CARLA 仿真平台：开源自动驾驶模拟器，多地图/多天气
• 自建 CARLA 仿真数据集：标准化标注，城市/高速/郊区场景
• 评价指标：碰撞率、路径完成率、偏航角误差 (YAE)
• 路径规划效率：规划时延 (ms)、平均速度
• 对比基准：DDPG、A3C、SAC 原始算法</a:t>
            </a:r>
          </a:p>
        </p:txBody>
      </p:sp>
      <p:sp>
        <p:nvSpPr>
          <p:cNvPr id="16" name="drawio2pptx:shape:p4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rawio2pptx:shape:p4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5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5_goldtop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5_goldbot"/>
          <p:cNvSpPr/>
          <p:nvPr/>
        </p:nvSpPr>
        <p:spPr>
          <a:xfrm>
            <a:off x="0" y="10210800"/>
            <a:ext cx="18288000" cy="76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5_num"/>
          <p:cNvSpPr/>
          <p:nvPr/>
        </p:nvSpPr>
        <p:spPr>
          <a:xfrm>
            <a:off x="762000" y="1905000"/>
            <a:ext cx="6667500" cy="571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 u="none">
                <a:solidFill>
                  <a:srgbClr val="C9A84C"/>
                </a:solidFill>
                <a:latin typeface="Georgia"/>
              </a:rPr>
              <a:t>03</a:t>
            </a:r>
          </a:p>
        </p:txBody>
      </p:sp>
      <p:sp>
        <p:nvSpPr>
          <p:cNvPr id="6" name="drawio2pptx:shape:p5_maintitle"/>
          <p:cNvSpPr/>
          <p:nvPr/>
        </p:nvSpPr>
        <p:spPr>
          <a:xfrm>
            <a:off x="6667500" y="3048000"/>
            <a:ext cx="8572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u="none">
                <a:solidFill>
                  <a:srgbClr val="FFFFFF"/>
                </a:solidFill>
                <a:latin typeface="微软雅黑"/>
              </a:rPr>
              <a:t>方法创新</a:t>
            </a:r>
          </a:p>
        </p:txBody>
      </p:sp>
      <p:sp>
        <p:nvSpPr>
          <p:cNvPr id="7" name="drawio2pptx:shape:p5_sub1"/>
          <p:cNvSpPr/>
          <p:nvPr/>
        </p:nvSpPr>
        <p:spPr>
          <a:xfrm>
            <a:off x="6829425" y="4400550"/>
            <a:ext cx="10477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9A84C"/>
                </a:solidFill>
                <a:latin typeface="微软雅黑"/>
              </a:rPr>
              <a:t>3.1　深度强化学习路径规划优化（D-RL-Path）</a:t>
            </a:r>
          </a:p>
        </p:txBody>
      </p:sp>
      <p:sp>
        <p:nvSpPr>
          <p:cNvPr id="8" name="drawio2pptx:shape:p5_sub2"/>
          <p:cNvSpPr/>
          <p:nvPr/>
        </p:nvSpPr>
        <p:spPr>
          <a:xfrm>
            <a:off x="6829425" y="5067300"/>
            <a:ext cx="10477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9A84C"/>
                </a:solidFill>
                <a:latin typeface="微软雅黑"/>
              </a:rPr>
              <a:t>3.2　多传感器融合路径规划网络（Fusion-Path）</a:t>
            </a:r>
          </a:p>
        </p:txBody>
      </p:sp>
      <p:sp>
        <p:nvSpPr>
          <p:cNvPr id="9" name="drawio2pptx:shape:p5_divider"/>
          <p:cNvSpPr/>
          <p:nvPr/>
        </p:nvSpPr>
        <p:spPr>
          <a:xfrm>
            <a:off x="6667500" y="4343400"/>
            <a:ext cx="38100" cy="15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p5_entitle"/>
          <p:cNvSpPr/>
          <p:nvPr/>
        </p:nvSpPr>
        <p:spPr>
          <a:xfrm>
            <a:off x="6667500" y="5905500"/>
            <a:ext cx="6667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Georgia"/>
              </a:rPr>
              <a:t>METHODOLOGY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6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6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6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6_titletext"/>
          <p:cNvSpPr/>
          <p:nvPr/>
        </p:nvSpPr>
        <p:spPr>
          <a:xfrm>
            <a:off x="1143000" y="152400"/>
            <a:ext cx="1524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FFFFFF"/>
                </a:solidFill>
                <a:latin typeface="微软雅黑"/>
              </a:rPr>
              <a:t>03.1　D-RL-Path：基于深度强化学习的路径规划优化</a:t>
            </a:r>
          </a:p>
        </p:txBody>
      </p:sp>
      <p:sp>
        <p:nvSpPr>
          <p:cNvPr id="6" name="drawio2pptx:shape:p6_entitle"/>
          <p:cNvSpPr/>
          <p:nvPr/>
        </p:nvSpPr>
        <p:spPr>
          <a:xfrm>
            <a:off x="1143000" y="1295400"/>
            <a:ext cx="762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C9A84C"/>
                </a:solidFill>
                <a:latin typeface="Georgia"/>
              </a:rPr>
              <a:t>DEEP REINFORCEMENT LEARNING PATH PLANNING</a:t>
            </a:r>
          </a:p>
        </p:txBody>
      </p:sp>
      <p:sp>
        <p:nvSpPr>
          <p:cNvPr id="7" name="drawio2pptx:shape:p6_archbg"/>
          <p:cNvSpPr/>
          <p:nvPr/>
        </p:nvSpPr>
        <p:spPr>
          <a:xfrm>
            <a:off x="762000" y="1809750"/>
            <a:ext cx="9525000" cy="5334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6_archtitle"/>
          <p:cNvSpPr/>
          <p:nvPr/>
        </p:nvSpPr>
        <p:spPr>
          <a:xfrm>
            <a:off x="762000" y="1828800"/>
            <a:ext cx="9525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9A84C"/>
                </a:solidFill>
                <a:latin typeface="微软雅黑"/>
              </a:rPr>
              <a:t>图 3-2　D-RL-Path 网络架构</a:t>
            </a:r>
          </a:p>
        </p:txBody>
      </p:sp>
      <p:sp>
        <p:nvSpPr>
          <p:cNvPr id="9" name="drawio2pptx:shape:p6_env"/>
          <p:cNvSpPr/>
          <p:nvPr/>
        </p:nvSpPr>
        <p:spPr>
          <a:xfrm>
            <a:off x="1143000" y="2667000"/>
            <a:ext cx="1905000" cy="762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CARLA 环境</a:t>
            </a:r>
          </a:p>
        </p:txBody>
      </p:sp>
      <p:sp>
        <p:nvSpPr>
          <p:cNvPr id="10" name="drawio2pptx:shape:p6_state"/>
          <p:cNvSpPr/>
          <p:nvPr/>
        </p:nvSpPr>
        <p:spPr>
          <a:xfrm>
            <a:off x="3619500" y="2476500"/>
            <a:ext cx="1714500" cy="5715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状态空间 s</a:t>
            </a:r>
          </a:p>
        </p:txBody>
      </p:sp>
      <p:sp>
        <p:nvSpPr>
          <p:cNvPr id="11" name="drawio2pptx:shape:p6_actor"/>
          <p:cNvSpPr/>
          <p:nvPr/>
        </p:nvSpPr>
        <p:spPr>
          <a:xfrm>
            <a:off x="5905500" y="2381250"/>
            <a:ext cx="19050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Actor 网络
(DDPG)</a:t>
            </a:r>
          </a:p>
        </p:txBody>
      </p:sp>
      <p:sp>
        <p:nvSpPr>
          <p:cNvPr id="12" name="drawio2pptx:shape:p6_critic"/>
          <p:cNvSpPr/>
          <p:nvPr/>
        </p:nvSpPr>
        <p:spPr>
          <a:xfrm>
            <a:off x="5924550" y="3524250"/>
            <a:ext cx="1905000" cy="762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Critic 网络
(价值评估)</a:t>
            </a:r>
          </a:p>
        </p:txBody>
      </p:sp>
      <p:sp>
        <p:nvSpPr>
          <p:cNvPr id="13" name="drawio2pptx:shape:p6_action"/>
          <p:cNvSpPr/>
          <p:nvPr/>
        </p:nvSpPr>
        <p:spPr>
          <a:xfrm>
            <a:off x="8382000" y="2476500"/>
            <a:ext cx="1714500" cy="5715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动作 a
(转向/油门)</a:t>
            </a:r>
          </a:p>
        </p:txBody>
      </p:sp>
      <p:sp>
        <p:nvSpPr>
          <p:cNvPr id="14" name="drawio2pptx:shape:p6_reward"/>
          <p:cNvSpPr/>
          <p:nvPr/>
        </p:nvSpPr>
        <p:spPr>
          <a:xfrm>
            <a:off x="3619500" y="3619500"/>
            <a:ext cx="17145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奖励 r</a:t>
            </a:r>
          </a:p>
        </p:txBody>
      </p:sp>
      <p:sp>
        <p:nvSpPr>
          <p:cNvPr id="15" name="drawio2pptx:shape:p6_replay"/>
          <p:cNvSpPr/>
          <p:nvPr/>
        </p:nvSpPr>
        <p:spPr>
          <a:xfrm>
            <a:off x="3619500" y="4572000"/>
            <a:ext cx="4953000" cy="533400"/>
          </a:xfrm>
          <a:prstGeom prst="rect">
            <a:avLst/>
          </a:prstGeom>
          <a:solidFill>
            <a:srgbClr val="1E3A5F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经验回放缓冲区</a:t>
            </a:r>
          </a:p>
        </p:txBody>
      </p:sp>
      <p:sp>
        <p:nvSpPr>
          <p:cNvPr id="16" name="drawio2pptx:shape:p6_opt"/>
          <p:cNvSpPr/>
          <p:nvPr/>
        </p:nvSpPr>
        <p:spPr>
          <a:xfrm>
            <a:off x="1143000" y="5715000"/>
            <a:ext cx="8763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9A84C"/>
                </a:solidFill>
                <a:latin typeface="微软雅黑"/>
              </a:rPr>
              <a:t>优化：避障精度提升 19.7%，碰撞率降低 23.4%</a:t>
            </a:r>
          </a:p>
        </p:txBody>
      </p:sp>
      <p:sp>
        <p:nvSpPr>
          <p:cNvPr id="17" name="drawio2pptx:shape:p6_rightbg"/>
          <p:cNvSpPr/>
          <p:nvPr/>
        </p:nvSpPr>
        <p:spPr>
          <a:xfrm>
            <a:off x="10668000" y="1809750"/>
            <a:ext cx="6858000" cy="5334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rawio2pptx:shape:p6_righttitle"/>
          <p:cNvSpPr/>
          <p:nvPr/>
        </p:nvSpPr>
        <p:spPr>
          <a:xfrm>
            <a:off x="10668000" y="1828800"/>
            <a:ext cx="6858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9A84C"/>
                </a:solidFill>
                <a:latin typeface="微软雅黑"/>
              </a:rPr>
              <a:t>图 3-3　DDPG 优化模块</a:t>
            </a:r>
          </a:p>
        </p:txBody>
      </p:sp>
      <p:sp>
        <p:nvSpPr>
          <p:cNvPr id="19" name="drawio2pptx:shape:p6_ddpg1"/>
          <p:cNvSpPr/>
          <p:nvPr/>
        </p:nvSpPr>
        <p:spPr>
          <a:xfrm>
            <a:off x="11049000" y="2571750"/>
            <a:ext cx="1905000" cy="76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轨迹预测模块
（基于模型）</a:t>
            </a:r>
          </a:p>
        </p:txBody>
      </p:sp>
      <p:sp>
        <p:nvSpPr>
          <p:cNvPr id="20" name="drawio2pptx:shape:p6_ddpg2"/>
          <p:cNvSpPr/>
          <p:nvPr/>
        </p:nvSpPr>
        <p:spPr>
          <a:xfrm>
            <a:off x="11049000" y="3714750"/>
            <a:ext cx="1905000" cy="762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策略梯度优化
（DDPG Core）</a:t>
            </a:r>
          </a:p>
        </p:txBody>
      </p:sp>
      <p:sp>
        <p:nvSpPr>
          <p:cNvPr id="21" name="drawio2pptx:shape:p6_ddpg3"/>
          <p:cNvSpPr/>
          <p:nvPr/>
        </p:nvSpPr>
        <p:spPr>
          <a:xfrm>
            <a:off x="11049000" y="4857750"/>
            <a:ext cx="1905000" cy="762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控制指令输出
（PID 后处理）</a:t>
            </a:r>
          </a:p>
        </p:txBody>
      </p:sp>
      <p:sp>
        <p:nvSpPr>
          <p:cNvPr id="22" name="drawio2pptx:shape:p6_ddpgr1"/>
          <p:cNvSpPr/>
          <p:nvPr/>
        </p:nvSpPr>
        <p:spPr>
          <a:xfrm>
            <a:off x="13335000" y="2571750"/>
            <a:ext cx="38100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实验结论：在 CARLA 城市/高速场景下，D-RL-Path 相比原始 DDPG 基线，路径完成率提升 15.2%，局部最优陷阱减少 31%</a:t>
            </a:r>
          </a:p>
        </p:txBody>
      </p:sp>
      <p:sp>
        <p:nvSpPr>
          <p:cNvPr id="23" name="drawio2pptx:shape:p6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rawio2pptx:shape:p6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7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7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7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7_titletext"/>
          <p:cNvSpPr/>
          <p:nvPr/>
        </p:nvSpPr>
        <p:spPr>
          <a:xfrm>
            <a:off x="1143000" y="152400"/>
            <a:ext cx="15240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u="none">
                <a:solidFill>
                  <a:srgbClr val="FFFFFF"/>
                </a:solidFill>
                <a:latin typeface="微软雅黑"/>
              </a:rPr>
              <a:t>03.2　Fusion-Path：基于多传感器融合的路径规划网络</a:t>
            </a:r>
          </a:p>
        </p:txBody>
      </p:sp>
      <p:sp>
        <p:nvSpPr>
          <p:cNvPr id="6" name="drawio2pptx:shape:p7_entitle"/>
          <p:cNvSpPr/>
          <p:nvPr/>
        </p:nvSpPr>
        <p:spPr>
          <a:xfrm>
            <a:off x="1143000" y="1295400"/>
            <a:ext cx="857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C9A84C"/>
                </a:solidFill>
                <a:latin typeface="Georgia"/>
              </a:rPr>
              <a:t>MULTI-SENSOR FUSION PATH PLANNING NETWORK</a:t>
            </a:r>
          </a:p>
        </p:txBody>
      </p:sp>
      <p:sp>
        <p:nvSpPr>
          <p:cNvPr id="7" name="drawio2pptx:shape:p7_archbg"/>
          <p:cNvSpPr/>
          <p:nvPr/>
        </p:nvSpPr>
        <p:spPr>
          <a:xfrm>
            <a:off x="762000" y="1809750"/>
            <a:ext cx="10668000" cy="5334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7_archtitle"/>
          <p:cNvSpPr/>
          <p:nvPr/>
        </p:nvSpPr>
        <p:spPr>
          <a:xfrm>
            <a:off x="762000" y="1828800"/>
            <a:ext cx="10668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9A84C"/>
                </a:solidFill>
                <a:latin typeface="微软雅黑"/>
              </a:rPr>
              <a:t>图 4-4　Fusion-Path 多传感器融合网络架构</a:t>
            </a:r>
          </a:p>
        </p:txBody>
      </p:sp>
      <p:sp>
        <p:nvSpPr>
          <p:cNvPr id="9" name="drawio2pptx:shape:p7_lidar"/>
          <p:cNvSpPr/>
          <p:nvPr/>
        </p:nvSpPr>
        <p:spPr>
          <a:xfrm>
            <a:off x="1143000" y="2571750"/>
            <a:ext cx="1333500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LiDAR
点云</a:t>
            </a:r>
          </a:p>
        </p:txBody>
      </p:sp>
      <p:sp>
        <p:nvSpPr>
          <p:cNvPr id="10" name="drawio2pptx:shape:p7_cam"/>
          <p:cNvSpPr/>
          <p:nvPr/>
        </p:nvSpPr>
        <p:spPr>
          <a:xfrm>
            <a:off x="1143000" y="3524250"/>
            <a:ext cx="1333500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Camera
图像</a:t>
            </a:r>
          </a:p>
        </p:txBody>
      </p:sp>
      <p:sp>
        <p:nvSpPr>
          <p:cNvPr id="11" name="drawio2pptx:shape:p7_radar"/>
          <p:cNvSpPr/>
          <p:nvPr/>
        </p:nvSpPr>
        <p:spPr>
          <a:xfrm>
            <a:off x="1143000" y="4476750"/>
            <a:ext cx="1333500" cy="666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mmWave
雷达</a:t>
            </a:r>
          </a:p>
        </p:txBody>
      </p:sp>
      <p:sp>
        <p:nvSpPr>
          <p:cNvPr id="12" name="drawio2pptx:shape:p7_cnn"/>
          <p:cNvSpPr/>
          <p:nvPr/>
        </p:nvSpPr>
        <p:spPr>
          <a:xfrm>
            <a:off x="3143250" y="2762250"/>
            <a:ext cx="1524000" cy="666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CNN
特征提取</a:t>
            </a:r>
          </a:p>
        </p:txBody>
      </p:sp>
      <p:sp>
        <p:nvSpPr>
          <p:cNvPr id="13" name="drawio2pptx:shape:p7_rnn"/>
          <p:cNvSpPr/>
          <p:nvPr/>
        </p:nvSpPr>
        <p:spPr>
          <a:xfrm>
            <a:off x="3143250" y="3905250"/>
            <a:ext cx="1524000" cy="6667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RNN
时序建模</a:t>
            </a:r>
          </a:p>
        </p:txBody>
      </p:sp>
      <p:sp>
        <p:nvSpPr>
          <p:cNvPr id="14" name="drawio2pptx:shape:p7_fusion"/>
          <p:cNvSpPr/>
          <p:nvPr/>
        </p:nvSpPr>
        <p:spPr>
          <a:xfrm>
            <a:off x="5429250" y="3238500"/>
            <a:ext cx="1905000" cy="762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特征融合层
（Concat+Attention）</a:t>
            </a:r>
          </a:p>
        </p:txBody>
      </p:sp>
      <p:sp>
        <p:nvSpPr>
          <p:cNvPr id="15" name="drawio2pptx:shape:p7_rl"/>
          <p:cNvSpPr/>
          <p:nvPr/>
        </p:nvSpPr>
        <p:spPr>
          <a:xfrm>
            <a:off x="7572375" y="3209925"/>
            <a:ext cx="1905000" cy="76200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强化学习
策略优化</a:t>
            </a:r>
          </a:p>
        </p:txBody>
      </p:sp>
      <p:sp>
        <p:nvSpPr>
          <p:cNvPr id="16" name="drawio2pptx:shape:p7_output"/>
          <p:cNvSpPr/>
          <p:nvPr/>
        </p:nvSpPr>
        <p:spPr>
          <a:xfrm>
            <a:off x="9753600" y="3209925"/>
            <a:ext cx="1333500" cy="762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路径规划
输出</a:t>
            </a:r>
          </a:p>
        </p:txBody>
      </p:sp>
      <p:sp>
        <p:nvSpPr>
          <p:cNvPr id="17" name="drawio2pptx:shape:p7_cnnrnn"/>
          <p:cNvSpPr/>
          <p:nvPr/>
        </p:nvSpPr>
        <p:spPr>
          <a:xfrm>
            <a:off x="1143000" y="5524500"/>
            <a:ext cx="9906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1" u="none">
                <a:solidFill>
                  <a:srgbClr val="C9A84C"/>
                </a:solidFill>
                <a:latin typeface="微软雅黑"/>
              </a:rPr>
              <a:t>图 4-3　CNN-RNN 融合模块示意</a:t>
            </a:r>
          </a:p>
        </p:txBody>
      </p:sp>
      <p:sp>
        <p:nvSpPr>
          <p:cNvPr id="18" name="drawio2pptx:shape:p7_rightbg"/>
          <p:cNvSpPr/>
          <p:nvPr/>
        </p:nvSpPr>
        <p:spPr>
          <a:xfrm>
            <a:off x="11811000" y="1809750"/>
            <a:ext cx="5715000" cy="5334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rawio2pptx:shape:p7_righttitle"/>
          <p:cNvSpPr/>
          <p:nvPr/>
        </p:nvSpPr>
        <p:spPr>
          <a:xfrm>
            <a:off x="11811000" y="2000250"/>
            <a:ext cx="5715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9A84C"/>
                </a:solidFill>
                <a:latin typeface="微软雅黑"/>
              </a:rPr>
              <a:t>方法对比亮点</a:t>
            </a:r>
          </a:p>
        </p:txBody>
      </p:sp>
      <p:sp>
        <p:nvSpPr>
          <p:cNvPr id="20" name="drawio2pptx:shape:p7_point1"/>
          <p:cNvSpPr/>
          <p:nvPr/>
        </p:nvSpPr>
        <p:spPr>
          <a:xfrm>
            <a:off x="12096750" y="2571750"/>
            <a:ext cx="5143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✦  三模态传感器互补融合，覆盖全天候场景</a:t>
            </a:r>
          </a:p>
        </p:txBody>
      </p:sp>
      <p:sp>
        <p:nvSpPr>
          <p:cNvPr id="21" name="drawio2pptx:shape:p7_point2"/>
          <p:cNvSpPr/>
          <p:nvPr/>
        </p:nvSpPr>
        <p:spPr>
          <a:xfrm>
            <a:off x="12096750" y="3238500"/>
            <a:ext cx="5143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✦  CNN 提取空间特征，RNN 捕捉时序依赖</a:t>
            </a:r>
          </a:p>
        </p:txBody>
      </p:sp>
      <p:sp>
        <p:nvSpPr>
          <p:cNvPr id="22" name="drawio2pptx:shape:p7_point3"/>
          <p:cNvSpPr/>
          <p:nvPr/>
        </p:nvSpPr>
        <p:spPr>
          <a:xfrm>
            <a:off x="12096750" y="3905250"/>
            <a:ext cx="5143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✦  Attention 机制加权各传感器贡献度</a:t>
            </a:r>
          </a:p>
        </p:txBody>
      </p:sp>
      <p:sp>
        <p:nvSpPr>
          <p:cNvPr id="23" name="drawio2pptx:shape:p7_point4"/>
          <p:cNvSpPr/>
          <p:nvPr/>
        </p:nvSpPr>
        <p:spPr>
          <a:xfrm>
            <a:off x="12096750" y="4572000"/>
            <a:ext cx="5143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C9A84C"/>
                </a:solidFill>
                <a:latin typeface="微软雅黑"/>
              </a:rPr>
              <a:t>✦  路径规划鲁棒性提升 28.6%，精度提升 19.3%</a:t>
            </a:r>
          </a:p>
        </p:txBody>
      </p:sp>
      <p:sp>
        <p:nvSpPr>
          <p:cNvPr id="24" name="drawio2pptx:shape:p7_point5"/>
          <p:cNvSpPr/>
          <p:nvPr/>
        </p:nvSpPr>
        <p:spPr>
          <a:xfrm>
            <a:off x="12096750" y="5200650"/>
            <a:ext cx="51435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C9A84C"/>
                </a:solidFill>
                <a:latin typeface="微软雅黑"/>
              </a:rPr>
              <a:t>✦  较 D-RL-Path（单传感器）进一步提升 9.1%路径完成率</a:t>
            </a:r>
          </a:p>
        </p:txBody>
      </p:sp>
      <p:sp>
        <p:nvSpPr>
          <p:cNvPr id="25" name="drawio2pptx:shape:p7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rawio2pptx:shape:p7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8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8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8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8_titletext"/>
          <p:cNvSpPr/>
          <p:nvPr/>
        </p:nvSpPr>
        <p:spPr>
          <a:xfrm>
            <a:off x="1143000" y="190500"/>
            <a:ext cx="8572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FFFFFF"/>
                </a:solidFill>
                <a:latin typeface="微软雅黑"/>
              </a:rPr>
              <a:t>04　核心创新点与贡献</a:t>
            </a:r>
          </a:p>
        </p:txBody>
      </p:sp>
      <p:sp>
        <p:nvSpPr>
          <p:cNvPr id="6" name="drawio2pptx:shape:p8_entitle"/>
          <p:cNvSpPr/>
          <p:nvPr/>
        </p:nvSpPr>
        <p:spPr>
          <a:xfrm>
            <a:off x="1143000" y="1295400"/>
            <a:ext cx="381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C9A84C"/>
                </a:solidFill>
                <a:latin typeface="Georgia"/>
              </a:rPr>
              <a:t>KEY CONTRIBUTIONS</a:t>
            </a:r>
          </a:p>
        </p:txBody>
      </p:sp>
      <p:sp>
        <p:nvSpPr>
          <p:cNvPr id="7" name="drawio2pptx:shape:p8_c1bg"/>
          <p:cNvSpPr/>
          <p:nvPr/>
        </p:nvSpPr>
        <p:spPr>
          <a:xfrm>
            <a:off x="571500" y="1790700"/>
            <a:ext cx="8382000" cy="25717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8_c1num"/>
          <p:cNvSpPr/>
          <p:nvPr/>
        </p:nvSpPr>
        <p:spPr>
          <a:xfrm>
            <a:off x="762000" y="1752600"/>
            <a:ext cx="9525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9A84C"/>
                </a:solidFill>
                <a:latin typeface="Georgia"/>
              </a:rPr>
              <a:t>01</a:t>
            </a:r>
          </a:p>
        </p:txBody>
      </p:sp>
      <p:sp>
        <p:nvSpPr>
          <p:cNvPr id="9" name="drawio2pptx:shape:p8_c1t"/>
          <p:cNvSpPr/>
          <p:nvPr/>
        </p:nvSpPr>
        <p:spPr>
          <a:xfrm>
            <a:off x="1809750" y="1866900"/>
            <a:ext cx="69532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D-RL-Path 路径规划优化算法</a:t>
            </a:r>
          </a:p>
        </p:txBody>
      </p:sp>
      <p:sp>
        <p:nvSpPr>
          <p:cNvPr id="10" name="drawio2pptx:shape:p8_c1divider"/>
          <p:cNvSpPr/>
          <p:nvPr/>
        </p:nvSpPr>
        <p:spPr>
          <a:xfrm>
            <a:off x="762000" y="2381250"/>
            <a:ext cx="8001000" cy="190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rawio2pptx:shape:p8_c1b"/>
          <p:cNvSpPr/>
          <p:nvPr/>
        </p:nvSpPr>
        <p:spPr>
          <a:xfrm>
            <a:off x="762000" y="2495550"/>
            <a:ext cx="80010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结合 DDPG 进行避障精度优化，在复杂动态场景下路径完成率提升 15.2%，碰撞率降低 23.4%，显著超越 A3C/SAC 基线</a:t>
            </a:r>
          </a:p>
        </p:txBody>
      </p:sp>
      <p:sp>
        <p:nvSpPr>
          <p:cNvPr id="12" name="drawio2pptx:shape:p8_c2bg"/>
          <p:cNvSpPr/>
          <p:nvPr/>
        </p:nvSpPr>
        <p:spPr>
          <a:xfrm>
            <a:off x="9334500" y="1790700"/>
            <a:ext cx="8382000" cy="25717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rawio2pptx:shape:p8_c2num"/>
          <p:cNvSpPr/>
          <p:nvPr/>
        </p:nvSpPr>
        <p:spPr>
          <a:xfrm>
            <a:off x="9525000" y="1752600"/>
            <a:ext cx="9525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9A84C"/>
                </a:solidFill>
                <a:latin typeface="Georgia"/>
              </a:rPr>
              <a:t>02</a:t>
            </a:r>
          </a:p>
        </p:txBody>
      </p:sp>
      <p:sp>
        <p:nvSpPr>
          <p:cNvPr id="14" name="drawio2pptx:shape:p8_c2t"/>
          <p:cNvSpPr/>
          <p:nvPr/>
        </p:nvSpPr>
        <p:spPr>
          <a:xfrm>
            <a:off x="10572750" y="1866900"/>
            <a:ext cx="69532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Fusion-Path 多传感器融合网络</a:t>
            </a:r>
          </a:p>
        </p:txBody>
      </p:sp>
      <p:sp>
        <p:nvSpPr>
          <p:cNvPr id="15" name="drawio2pptx:shape:p8_c2divider"/>
          <p:cNvSpPr/>
          <p:nvPr/>
        </p:nvSpPr>
        <p:spPr>
          <a:xfrm>
            <a:off x="9525000" y="2381250"/>
            <a:ext cx="8001000" cy="190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rawio2pptx:shape:p8_c2b"/>
          <p:cNvSpPr/>
          <p:nvPr/>
        </p:nvSpPr>
        <p:spPr>
          <a:xfrm>
            <a:off x="9525000" y="2495550"/>
            <a:ext cx="80010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CNN+RNN 深度特征提取 + Attention 融合，结合强化学习优化，在复杂路况中鲁棒性提升 28.6%，路径精度提升 19.3%</a:t>
            </a:r>
          </a:p>
        </p:txBody>
      </p:sp>
      <p:sp>
        <p:nvSpPr>
          <p:cNvPr id="17" name="drawio2pptx:shape:p8_c3bg"/>
          <p:cNvSpPr/>
          <p:nvPr/>
        </p:nvSpPr>
        <p:spPr>
          <a:xfrm>
            <a:off x="571500" y="4667250"/>
            <a:ext cx="8382000" cy="25717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rawio2pptx:shape:p8_c3num"/>
          <p:cNvSpPr/>
          <p:nvPr/>
        </p:nvSpPr>
        <p:spPr>
          <a:xfrm>
            <a:off x="714375" y="4629150"/>
            <a:ext cx="9525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9A84C"/>
                </a:solidFill>
                <a:latin typeface="Georgia"/>
              </a:rPr>
              <a:t>03</a:t>
            </a:r>
          </a:p>
        </p:txBody>
      </p:sp>
      <p:sp>
        <p:nvSpPr>
          <p:cNvPr id="19" name="drawio2pptx:shape:p8_c3t"/>
          <p:cNvSpPr/>
          <p:nvPr/>
        </p:nvSpPr>
        <p:spPr>
          <a:xfrm>
            <a:off x="1809750" y="4743450"/>
            <a:ext cx="69532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CARLA 自动驾驶仿真数据集</a:t>
            </a:r>
          </a:p>
        </p:txBody>
      </p:sp>
      <p:sp>
        <p:nvSpPr>
          <p:cNvPr id="20" name="drawio2pptx:shape:p8_c3divider"/>
          <p:cNvSpPr/>
          <p:nvPr/>
        </p:nvSpPr>
        <p:spPr>
          <a:xfrm>
            <a:off x="762000" y="5257800"/>
            <a:ext cx="8001000" cy="190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rawio2pptx:shape:p8_c3b"/>
          <p:cNvSpPr/>
          <p:nvPr/>
        </p:nvSpPr>
        <p:spPr>
          <a:xfrm>
            <a:off x="762000" y="5372100"/>
            <a:ext cx="80010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构建标准化多场景仿真数据集（城市/高速/郊区），支持 DRL 与多传感器融合模型训练与测试，已完成评估实验验证</a:t>
            </a:r>
          </a:p>
        </p:txBody>
      </p:sp>
      <p:sp>
        <p:nvSpPr>
          <p:cNvPr id="22" name="drawio2pptx:shape:p8_c4bg"/>
          <p:cNvSpPr/>
          <p:nvPr/>
        </p:nvSpPr>
        <p:spPr>
          <a:xfrm>
            <a:off x="9334500" y="4667250"/>
            <a:ext cx="8382000" cy="25717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rawio2pptx:shape:p8_c4num"/>
          <p:cNvSpPr/>
          <p:nvPr/>
        </p:nvSpPr>
        <p:spPr>
          <a:xfrm>
            <a:off x="9486900" y="4591050"/>
            <a:ext cx="9525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9A84C"/>
                </a:solidFill>
                <a:latin typeface="Georgia"/>
              </a:rPr>
              <a:t>04</a:t>
            </a:r>
          </a:p>
        </p:txBody>
      </p:sp>
      <p:sp>
        <p:nvSpPr>
          <p:cNvPr id="24" name="drawio2pptx:shape:p8_c4t"/>
          <p:cNvSpPr/>
          <p:nvPr/>
        </p:nvSpPr>
        <p:spPr>
          <a:xfrm>
            <a:off x="10572750" y="4743450"/>
            <a:ext cx="695325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工程化自动驾驶路径规划系统</a:t>
            </a:r>
          </a:p>
        </p:txBody>
      </p:sp>
      <p:sp>
        <p:nvSpPr>
          <p:cNvPr id="25" name="drawio2pptx:shape:p8_c4divider"/>
          <p:cNvSpPr/>
          <p:nvPr/>
        </p:nvSpPr>
        <p:spPr>
          <a:xfrm>
            <a:off x="9525000" y="5257800"/>
            <a:ext cx="8001000" cy="190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rawio2pptx:shape:p8_c4b"/>
          <p:cNvSpPr/>
          <p:nvPr/>
        </p:nvSpPr>
        <p:spPr>
          <a:xfrm>
            <a:off x="9525000" y="5372100"/>
            <a:ext cx="80010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FFFFFF"/>
                </a:solidFill>
                <a:latin typeface="微软雅黑"/>
              </a:rPr>
              <a:t>前后端分离架构（React + TensorFlow + ROS），实现路径规划 / 地图构建 / 车辆控制 / 传感器接入全功能模块，具备工程应用价值</a:t>
            </a:r>
          </a:p>
        </p:txBody>
      </p:sp>
      <p:sp>
        <p:nvSpPr>
          <p:cNvPr id="27" name="drawio2pptx:shape:p8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rawio2pptx:shape:p8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9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9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9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9_titletext"/>
          <p:cNvSpPr/>
          <p:nvPr/>
        </p:nvSpPr>
        <p:spPr>
          <a:xfrm>
            <a:off x="1143000" y="190500"/>
            <a:ext cx="7620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FFFFFF"/>
                </a:solidFill>
                <a:latin typeface="微软雅黑"/>
              </a:rPr>
              <a:t>05　系统设计与实现</a:t>
            </a:r>
          </a:p>
        </p:txBody>
      </p:sp>
      <p:sp>
        <p:nvSpPr>
          <p:cNvPr id="6" name="drawio2pptx:shape:p9_entitle"/>
          <p:cNvSpPr/>
          <p:nvPr/>
        </p:nvSpPr>
        <p:spPr>
          <a:xfrm>
            <a:off x="1143000" y="1295400"/>
            <a:ext cx="6667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C9A84C"/>
                </a:solidFill>
                <a:latin typeface="Georgia"/>
              </a:rPr>
              <a:t>SYSTEM DESIGN &amp; IMPLEMENTATION</a:t>
            </a:r>
          </a:p>
        </p:txBody>
      </p:sp>
      <p:sp>
        <p:nvSpPr>
          <p:cNvPr id="7" name="drawio2pptx:shape:p9_archbg"/>
          <p:cNvSpPr/>
          <p:nvPr/>
        </p:nvSpPr>
        <p:spPr>
          <a:xfrm>
            <a:off x="762000" y="1809750"/>
            <a:ext cx="10477500" cy="5524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9_archtitle"/>
          <p:cNvSpPr/>
          <p:nvPr/>
        </p:nvSpPr>
        <p:spPr>
          <a:xfrm>
            <a:off x="762000" y="1828800"/>
            <a:ext cx="10477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C9A84C"/>
                </a:solidFill>
                <a:latin typeface="微软雅黑"/>
              </a:rPr>
              <a:t>图 5-2　自动驾驶路径规划系统架构（前后端分离）</a:t>
            </a:r>
          </a:p>
        </p:txBody>
      </p:sp>
      <p:sp>
        <p:nvSpPr>
          <p:cNvPr id="9" name="drawio2pptx:shape:p9_frontend"/>
          <p:cNvSpPr/>
          <p:nvPr/>
        </p:nvSpPr>
        <p:spPr>
          <a:xfrm>
            <a:off x="1143000" y="2476500"/>
            <a:ext cx="2857500" cy="571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前端层（React）</a:t>
            </a:r>
          </a:p>
        </p:txBody>
      </p:sp>
      <p:sp>
        <p:nvSpPr>
          <p:cNvPr id="10" name="drawio2pptx:shape:p9_fe1"/>
          <p:cNvSpPr/>
          <p:nvPr/>
        </p:nvSpPr>
        <p:spPr>
          <a:xfrm>
            <a:off x="1143000" y="3238500"/>
            <a:ext cx="13335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FFFFFF"/>
                </a:solidFill>
                <a:latin typeface="微软雅黑"/>
              </a:rPr>
              <a:t>路径可视化</a:t>
            </a:r>
          </a:p>
        </p:txBody>
      </p:sp>
      <p:sp>
        <p:nvSpPr>
          <p:cNvPr id="11" name="drawio2pptx:shape:p9_fe2"/>
          <p:cNvSpPr/>
          <p:nvPr/>
        </p:nvSpPr>
        <p:spPr>
          <a:xfrm>
            <a:off x="2667000" y="3238500"/>
            <a:ext cx="13335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FFFFFF"/>
                </a:solidFill>
                <a:latin typeface="微软雅黑"/>
              </a:rPr>
              <a:t>实时监控面板</a:t>
            </a:r>
          </a:p>
        </p:txBody>
      </p:sp>
      <p:sp>
        <p:nvSpPr>
          <p:cNvPr id="12" name="drawio2pptx:shape:p9_api"/>
          <p:cNvSpPr/>
          <p:nvPr/>
        </p:nvSpPr>
        <p:spPr>
          <a:xfrm>
            <a:off x="4572000" y="2952750"/>
            <a:ext cx="2095500" cy="5334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REST API / WebSocket</a:t>
            </a:r>
          </a:p>
        </p:txBody>
      </p:sp>
      <p:sp>
        <p:nvSpPr>
          <p:cNvPr id="13" name="drawio2pptx:shape:p9_backend"/>
          <p:cNvSpPr/>
          <p:nvPr/>
        </p:nvSpPr>
        <p:spPr>
          <a:xfrm>
            <a:off x="7239000" y="2476500"/>
            <a:ext cx="3619500" cy="571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后端层（TensorFlow + ROS）</a:t>
            </a:r>
          </a:p>
        </p:txBody>
      </p:sp>
      <p:sp>
        <p:nvSpPr>
          <p:cNvPr id="14" name="drawio2pptx:shape:p9_be1"/>
          <p:cNvSpPr/>
          <p:nvPr/>
        </p:nvSpPr>
        <p:spPr>
          <a:xfrm>
            <a:off x="7239000" y="3238500"/>
            <a:ext cx="1714500" cy="6667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路径规划模块
(D-RL-Path / Fusion-Path)</a:t>
            </a:r>
          </a:p>
        </p:txBody>
      </p:sp>
      <p:sp>
        <p:nvSpPr>
          <p:cNvPr id="15" name="drawio2pptx:shape:p9_be2"/>
          <p:cNvSpPr/>
          <p:nvPr/>
        </p:nvSpPr>
        <p:spPr>
          <a:xfrm>
            <a:off x="9144000" y="3238500"/>
            <a:ext cx="1524000" cy="6667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传感器数据
接入与融合</a:t>
            </a:r>
          </a:p>
        </p:txBody>
      </p:sp>
      <p:sp>
        <p:nvSpPr>
          <p:cNvPr id="16" name="drawio2pptx:shape:p9_carla"/>
          <p:cNvSpPr/>
          <p:nvPr/>
        </p:nvSpPr>
        <p:spPr>
          <a:xfrm>
            <a:off x="4572000" y="4381500"/>
            <a:ext cx="26670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CARLA 仿真平台</a:t>
            </a:r>
          </a:p>
        </p:txBody>
      </p:sp>
      <p:sp>
        <p:nvSpPr>
          <p:cNvPr id="17" name="drawio2pptx:shape:p9_ros"/>
          <p:cNvSpPr/>
          <p:nvPr/>
        </p:nvSpPr>
        <p:spPr>
          <a:xfrm>
            <a:off x="4572000" y="5238750"/>
            <a:ext cx="2667000" cy="47625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FFFFFF"/>
                </a:solidFill>
                <a:latin typeface="微软雅黑"/>
              </a:rPr>
              <a:t>ROS 节点通信</a:t>
            </a:r>
          </a:p>
        </p:txBody>
      </p:sp>
      <p:sp>
        <p:nvSpPr>
          <p:cNvPr id="18" name="drawio2pptx:shape:p9_note"/>
          <p:cNvSpPr/>
          <p:nvPr/>
        </p:nvSpPr>
        <p:spPr>
          <a:xfrm>
            <a:off x="1143000" y="6191250"/>
            <a:ext cx="9715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9A84C"/>
                </a:solidFill>
                <a:latin typeface="微软雅黑"/>
              </a:rPr>
              <a:t>系统支持：路径规划 / 地图构建 / 车辆控制 / 传感器数据接入 / 功能演示</a:t>
            </a:r>
          </a:p>
        </p:txBody>
      </p:sp>
      <p:sp>
        <p:nvSpPr>
          <p:cNvPr id="19" name="drawio2pptx:shape:p9_rightbg"/>
          <p:cNvSpPr/>
          <p:nvPr/>
        </p:nvSpPr>
        <p:spPr>
          <a:xfrm>
            <a:off x="11620500" y="1809750"/>
            <a:ext cx="5905500" cy="5524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rawio2pptx:shape:p9_righttitle"/>
          <p:cNvSpPr/>
          <p:nvPr/>
        </p:nvSpPr>
        <p:spPr>
          <a:xfrm>
            <a:off x="11811000" y="2000250"/>
            <a:ext cx="5524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9A84C"/>
                </a:solidFill>
                <a:latin typeface="微软雅黑"/>
              </a:rPr>
              <a:t>功能模块说明</a:t>
            </a:r>
          </a:p>
        </p:txBody>
      </p:sp>
      <p:sp>
        <p:nvSpPr>
          <p:cNvPr id="21" name="drawio2pptx:shape:p9_f1"/>
          <p:cNvSpPr/>
          <p:nvPr/>
        </p:nvSpPr>
        <p:spPr>
          <a:xfrm>
            <a:off x="11906250" y="2552700"/>
            <a:ext cx="542925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① 路径规划：集成 D-RL-Path 与 Fusion-Path，支持实时路径决策输出</a:t>
            </a:r>
          </a:p>
        </p:txBody>
      </p:sp>
      <p:sp>
        <p:nvSpPr>
          <p:cNvPr id="22" name="drawio2pptx:shape:p9_f2"/>
          <p:cNvSpPr/>
          <p:nvPr/>
        </p:nvSpPr>
        <p:spPr>
          <a:xfrm>
            <a:off x="11906250" y="3390900"/>
            <a:ext cx="542925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② 地图构建：LiDAR 点云实时建图，支持高精地图更新</a:t>
            </a:r>
          </a:p>
        </p:txBody>
      </p:sp>
      <p:sp>
        <p:nvSpPr>
          <p:cNvPr id="23" name="drawio2pptx:shape:p9_f3"/>
          <p:cNvSpPr/>
          <p:nvPr/>
        </p:nvSpPr>
        <p:spPr>
          <a:xfrm>
            <a:off x="11906250" y="4229100"/>
            <a:ext cx="542925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③ 车辆控制：ROS 发布 Twist 指令，PID 闭环控制油门/转向</a:t>
            </a:r>
          </a:p>
        </p:txBody>
      </p:sp>
      <p:sp>
        <p:nvSpPr>
          <p:cNvPr id="24" name="drawio2pptx:shape:p9_f4"/>
          <p:cNvSpPr/>
          <p:nvPr/>
        </p:nvSpPr>
        <p:spPr>
          <a:xfrm>
            <a:off x="11906250" y="5067300"/>
            <a:ext cx="542925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④ 数据接入：多传感器驱动统一封装，WebSocket 实时推流至前端</a:t>
            </a:r>
          </a:p>
        </p:txBody>
      </p:sp>
      <p:sp>
        <p:nvSpPr>
          <p:cNvPr id="25" name="drawio2pptx:shape:p9_f5"/>
          <p:cNvSpPr/>
          <p:nvPr/>
        </p:nvSpPr>
        <p:spPr>
          <a:xfrm>
            <a:off x="11906250" y="5905500"/>
            <a:ext cx="542925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9A84C"/>
                </a:solidFill>
                <a:latin typeface="微软雅黑"/>
              </a:rPr>
              <a:t>⑤ 功能演示：CARLA 仿真平台端到端测试，完整验证系统可用性</a:t>
            </a:r>
          </a:p>
        </p:txBody>
      </p:sp>
      <p:sp>
        <p:nvSpPr>
          <p:cNvPr id="26" name="drawio2pptx:shape:p9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rawio2pptx:shape:p9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10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10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10_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10_titletext"/>
          <p:cNvSpPr/>
          <p:nvPr/>
        </p:nvSpPr>
        <p:spPr>
          <a:xfrm>
            <a:off x="1143000" y="190500"/>
            <a:ext cx="8572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FFFFFF"/>
                </a:solidFill>
                <a:latin typeface="微软雅黑"/>
              </a:rPr>
              <a:t>06　实验结果与总结展望</a:t>
            </a:r>
          </a:p>
        </p:txBody>
      </p:sp>
      <p:sp>
        <p:nvSpPr>
          <p:cNvPr id="6" name="drawio2pptx:shape:p10_entitle"/>
          <p:cNvSpPr/>
          <p:nvPr/>
        </p:nvSpPr>
        <p:spPr>
          <a:xfrm>
            <a:off x="1143000" y="1295400"/>
            <a:ext cx="5715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C9A84C"/>
                </a:solidFill>
                <a:latin typeface="Georgia"/>
              </a:rPr>
              <a:t>EXPERIMENTS &amp; CONCLUSIONS</a:t>
            </a:r>
          </a:p>
        </p:txBody>
      </p:sp>
      <p:sp>
        <p:nvSpPr>
          <p:cNvPr id="7" name="drawio2pptx:shape:p10_tablebg"/>
          <p:cNvSpPr/>
          <p:nvPr/>
        </p:nvSpPr>
        <p:spPr>
          <a:xfrm>
            <a:off x="762000" y="1809750"/>
            <a:ext cx="10477500" cy="4572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10_tabtitle"/>
          <p:cNvSpPr/>
          <p:nvPr/>
        </p:nvSpPr>
        <p:spPr>
          <a:xfrm>
            <a:off x="762000" y="1885950"/>
            <a:ext cx="10477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C9A84C"/>
                </a:solidFill>
                <a:latin typeface="微软雅黑"/>
              </a:rPr>
              <a:t>表 4-2　自动驾驶路径规划对比实验结果</a:t>
            </a:r>
          </a:p>
        </p:txBody>
      </p:sp>
      <p:sp>
        <p:nvSpPr>
          <p:cNvPr id="9" name="drawio2pptx:shape:p10_thead"/>
          <p:cNvSpPr/>
          <p:nvPr/>
        </p:nvSpPr>
        <p:spPr>
          <a:xfrm>
            <a:off x="952500" y="2381250"/>
            <a:ext cx="1009650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p10_th1"/>
          <p:cNvSpPr/>
          <p:nvPr/>
        </p:nvSpPr>
        <p:spPr>
          <a:xfrm>
            <a:off x="952500" y="23812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方法</a:t>
            </a:r>
          </a:p>
        </p:txBody>
      </p:sp>
      <p:sp>
        <p:nvSpPr>
          <p:cNvPr id="11" name="drawio2pptx:shape:p10_th2"/>
          <p:cNvSpPr/>
          <p:nvPr/>
        </p:nvSpPr>
        <p:spPr>
          <a:xfrm>
            <a:off x="3048000" y="23812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路径完成率 (%)</a:t>
            </a:r>
          </a:p>
        </p:txBody>
      </p:sp>
      <p:sp>
        <p:nvSpPr>
          <p:cNvPr id="12" name="drawio2pptx:shape:p10_th3"/>
          <p:cNvSpPr/>
          <p:nvPr/>
        </p:nvSpPr>
        <p:spPr>
          <a:xfrm>
            <a:off x="5143500" y="23812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碰撞率 (%)</a:t>
            </a:r>
          </a:p>
        </p:txBody>
      </p:sp>
      <p:sp>
        <p:nvSpPr>
          <p:cNvPr id="13" name="drawio2pptx:shape:p10_th4"/>
          <p:cNvSpPr/>
          <p:nvPr/>
        </p:nvSpPr>
        <p:spPr>
          <a:xfrm>
            <a:off x="7048500" y="23812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规划时延 (ms)</a:t>
            </a:r>
          </a:p>
        </p:txBody>
      </p:sp>
      <p:sp>
        <p:nvSpPr>
          <p:cNvPr id="14" name="drawio2pptx:shape:p10_th5"/>
          <p:cNvSpPr/>
          <p:nvPr/>
        </p:nvSpPr>
        <p:spPr>
          <a:xfrm>
            <a:off x="8953500" y="23812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YAE (°)</a:t>
            </a:r>
          </a:p>
        </p:txBody>
      </p:sp>
      <p:sp>
        <p:nvSpPr>
          <p:cNvPr id="15" name="drawio2pptx:shape:p10_r1c1"/>
          <p:cNvSpPr/>
          <p:nvPr/>
        </p:nvSpPr>
        <p:spPr>
          <a:xfrm>
            <a:off x="952500" y="28384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微软雅黑"/>
              </a:rPr>
              <a:t>DDPG (基线)</a:t>
            </a:r>
          </a:p>
        </p:txBody>
      </p:sp>
      <p:sp>
        <p:nvSpPr>
          <p:cNvPr id="16" name="drawio2pptx:shape:p10_r1c2"/>
          <p:cNvSpPr/>
          <p:nvPr/>
        </p:nvSpPr>
        <p:spPr>
          <a:xfrm>
            <a:off x="3048000" y="28384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72.3</a:t>
            </a:r>
          </a:p>
        </p:txBody>
      </p:sp>
      <p:sp>
        <p:nvSpPr>
          <p:cNvPr id="17" name="drawio2pptx:shape:p10_r1c3"/>
          <p:cNvSpPr/>
          <p:nvPr/>
        </p:nvSpPr>
        <p:spPr>
          <a:xfrm>
            <a:off x="5143500" y="28384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18.6</a:t>
            </a:r>
          </a:p>
        </p:txBody>
      </p:sp>
      <p:sp>
        <p:nvSpPr>
          <p:cNvPr id="18" name="drawio2pptx:shape:p10_r1c4"/>
          <p:cNvSpPr/>
          <p:nvPr/>
        </p:nvSpPr>
        <p:spPr>
          <a:xfrm>
            <a:off x="7048500" y="28384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85.2</a:t>
            </a:r>
          </a:p>
        </p:txBody>
      </p:sp>
      <p:sp>
        <p:nvSpPr>
          <p:cNvPr id="19" name="drawio2pptx:shape:p10_r1c5"/>
          <p:cNvSpPr/>
          <p:nvPr/>
        </p:nvSpPr>
        <p:spPr>
          <a:xfrm>
            <a:off x="8953500" y="28384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4.82</a:t>
            </a:r>
          </a:p>
        </p:txBody>
      </p:sp>
      <p:sp>
        <p:nvSpPr>
          <p:cNvPr id="20" name="drawio2pptx:shape:p10_r2c1"/>
          <p:cNvSpPr/>
          <p:nvPr/>
        </p:nvSpPr>
        <p:spPr>
          <a:xfrm>
            <a:off x="952500" y="32956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微软雅黑"/>
              </a:rPr>
              <a:t>A3C (基线)</a:t>
            </a:r>
          </a:p>
        </p:txBody>
      </p:sp>
      <p:sp>
        <p:nvSpPr>
          <p:cNvPr id="21" name="drawio2pptx:shape:p10_r2c2"/>
          <p:cNvSpPr/>
          <p:nvPr/>
        </p:nvSpPr>
        <p:spPr>
          <a:xfrm>
            <a:off x="3048000" y="32956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69.8</a:t>
            </a:r>
          </a:p>
        </p:txBody>
      </p:sp>
      <p:sp>
        <p:nvSpPr>
          <p:cNvPr id="22" name="drawio2pptx:shape:p10_r2c3"/>
          <p:cNvSpPr/>
          <p:nvPr/>
        </p:nvSpPr>
        <p:spPr>
          <a:xfrm>
            <a:off x="5143500" y="32956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21.3</a:t>
            </a:r>
          </a:p>
        </p:txBody>
      </p:sp>
      <p:sp>
        <p:nvSpPr>
          <p:cNvPr id="23" name="drawio2pptx:shape:p10_r2c4"/>
          <p:cNvSpPr/>
          <p:nvPr/>
        </p:nvSpPr>
        <p:spPr>
          <a:xfrm>
            <a:off x="7048500" y="32956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92.7</a:t>
            </a:r>
          </a:p>
        </p:txBody>
      </p:sp>
      <p:sp>
        <p:nvSpPr>
          <p:cNvPr id="24" name="drawio2pptx:shape:p10_r2c5"/>
          <p:cNvSpPr/>
          <p:nvPr/>
        </p:nvSpPr>
        <p:spPr>
          <a:xfrm>
            <a:off x="8953500" y="32956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Calibri"/>
              </a:rPr>
              <a:t>5.14</a:t>
            </a:r>
          </a:p>
        </p:txBody>
      </p:sp>
      <p:sp>
        <p:nvSpPr>
          <p:cNvPr id="25" name="drawio2pptx:shape:p10_r3c1"/>
          <p:cNvSpPr/>
          <p:nvPr/>
        </p:nvSpPr>
        <p:spPr>
          <a:xfrm>
            <a:off x="952500" y="37528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微软雅黑"/>
              </a:rPr>
              <a:t>D-RL-Path（本文）</a:t>
            </a:r>
          </a:p>
        </p:txBody>
      </p:sp>
      <p:sp>
        <p:nvSpPr>
          <p:cNvPr id="26" name="drawio2pptx:shape:p10_r3c2"/>
          <p:cNvSpPr/>
          <p:nvPr/>
        </p:nvSpPr>
        <p:spPr>
          <a:xfrm>
            <a:off x="3048000" y="37528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87.5</a:t>
            </a:r>
          </a:p>
        </p:txBody>
      </p:sp>
      <p:sp>
        <p:nvSpPr>
          <p:cNvPr id="27" name="drawio2pptx:shape:p10_r3c3"/>
          <p:cNvSpPr/>
          <p:nvPr/>
        </p:nvSpPr>
        <p:spPr>
          <a:xfrm>
            <a:off x="5143500" y="37528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14.2</a:t>
            </a:r>
          </a:p>
        </p:txBody>
      </p:sp>
      <p:sp>
        <p:nvSpPr>
          <p:cNvPr id="28" name="drawio2pptx:shape:p10_r3c4"/>
          <p:cNvSpPr/>
          <p:nvPr/>
        </p:nvSpPr>
        <p:spPr>
          <a:xfrm>
            <a:off x="7048500" y="37528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78.4</a:t>
            </a:r>
          </a:p>
        </p:txBody>
      </p:sp>
      <p:sp>
        <p:nvSpPr>
          <p:cNvPr id="29" name="drawio2pptx:shape:p10_r3c5"/>
          <p:cNvSpPr/>
          <p:nvPr/>
        </p:nvSpPr>
        <p:spPr>
          <a:xfrm>
            <a:off x="8953500" y="37528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3.61</a:t>
            </a:r>
          </a:p>
        </p:txBody>
      </p:sp>
      <p:sp>
        <p:nvSpPr>
          <p:cNvPr id="30" name="drawio2pptx:shape:p10_r4c1"/>
          <p:cNvSpPr/>
          <p:nvPr/>
        </p:nvSpPr>
        <p:spPr>
          <a:xfrm>
            <a:off x="952500" y="42100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微软雅黑"/>
              </a:rPr>
              <a:t>Fusion-Path（本文）</a:t>
            </a:r>
          </a:p>
        </p:txBody>
      </p:sp>
      <p:sp>
        <p:nvSpPr>
          <p:cNvPr id="31" name="drawio2pptx:shape:p10_r4c2"/>
          <p:cNvSpPr/>
          <p:nvPr/>
        </p:nvSpPr>
        <p:spPr>
          <a:xfrm>
            <a:off x="3048000" y="42100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91.4 ↑</a:t>
            </a:r>
          </a:p>
        </p:txBody>
      </p:sp>
      <p:sp>
        <p:nvSpPr>
          <p:cNvPr id="32" name="drawio2pptx:shape:p10_r4c3"/>
          <p:cNvSpPr/>
          <p:nvPr/>
        </p:nvSpPr>
        <p:spPr>
          <a:xfrm>
            <a:off x="5143500" y="42100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10.8 ↓</a:t>
            </a:r>
          </a:p>
        </p:txBody>
      </p:sp>
      <p:sp>
        <p:nvSpPr>
          <p:cNvPr id="33" name="drawio2pptx:shape:p10_r4c4"/>
          <p:cNvSpPr/>
          <p:nvPr/>
        </p:nvSpPr>
        <p:spPr>
          <a:xfrm>
            <a:off x="7048500" y="421005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82.1</a:t>
            </a:r>
          </a:p>
        </p:txBody>
      </p:sp>
      <p:sp>
        <p:nvSpPr>
          <p:cNvPr id="34" name="drawio2pptx:shape:p10_r4c5"/>
          <p:cNvSpPr/>
          <p:nvPr/>
        </p:nvSpPr>
        <p:spPr>
          <a:xfrm>
            <a:off x="8953500" y="4210050"/>
            <a:ext cx="20955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9A84C"/>
                </a:solidFill>
                <a:latin typeface="Calibri"/>
              </a:rPr>
              <a:t>3.12 ↓</a:t>
            </a:r>
          </a:p>
        </p:txBody>
      </p:sp>
      <p:sp>
        <p:nvSpPr>
          <p:cNvPr id="35" name="drawio2pptx:shape:p10_rightbg"/>
          <p:cNvSpPr/>
          <p:nvPr/>
        </p:nvSpPr>
        <p:spPr>
          <a:xfrm>
            <a:off x="11620500" y="1809750"/>
            <a:ext cx="5905500" cy="4572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awio2pptx:shape:p10_rt"/>
          <p:cNvSpPr/>
          <p:nvPr/>
        </p:nvSpPr>
        <p:spPr>
          <a:xfrm>
            <a:off x="11811000" y="2000250"/>
            <a:ext cx="5524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9A84C"/>
                </a:solidFill>
                <a:latin typeface="微软雅黑"/>
              </a:rPr>
              <a:t>总结与展望</a:t>
            </a:r>
          </a:p>
        </p:txBody>
      </p:sp>
      <p:sp>
        <p:nvSpPr>
          <p:cNvPr id="37" name="drawio2pptx:shape:p10_s1"/>
          <p:cNvSpPr/>
          <p:nvPr/>
        </p:nvSpPr>
        <p:spPr>
          <a:xfrm>
            <a:off x="11906250" y="2552700"/>
            <a:ext cx="5334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微软雅黑"/>
              </a:rPr>
              <a:t>✔  提出 D-RL-Path 与 Fusion-Path 两种创新路径规划方法，在 CARLA 仿真数据集上验证有效性</a:t>
            </a:r>
          </a:p>
        </p:txBody>
      </p:sp>
      <p:sp>
        <p:nvSpPr>
          <p:cNvPr id="38" name="drawio2pptx:shape:p10_s2"/>
          <p:cNvSpPr/>
          <p:nvPr/>
        </p:nvSpPr>
        <p:spPr>
          <a:xfrm>
            <a:off x="11906250" y="3352800"/>
            <a:ext cx="53340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微软雅黑"/>
              </a:rPr>
              <a:t>✔  多传感器融合显著优于单一传感器方案，Fusion-Path 综合指标最优</a:t>
            </a:r>
          </a:p>
        </p:txBody>
      </p:sp>
      <p:sp>
        <p:nvSpPr>
          <p:cNvPr id="39" name="drawio2pptx:shape:p10_s3"/>
          <p:cNvSpPr/>
          <p:nvPr/>
        </p:nvSpPr>
        <p:spPr>
          <a:xfrm>
            <a:off x="11906250" y="4076700"/>
            <a:ext cx="5334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微软雅黑"/>
              </a:rPr>
              <a:t>✔  工程化系统完成完整功能验证，具备实际应用潜力</a:t>
            </a:r>
          </a:p>
        </p:txBody>
      </p:sp>
      <p:sp>
        <p:nvSpPr>
          <p:cNvPr id="40" name="drawio2pptx:shape:p10_fut"/>
          <p:cNvSpPr/>
          <p:nvPr/>
        </p:nvSpPr>
        <p:spPr>
          <a:xfrm>
            <a:off x="11906250" y="4714875"/>
            <a:ext cx="2857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C9A84C"/>
                </a:solidFill>
                <a:latin typeface="微软雅黑"/>
              </a:rPr>
              <a:t>未来展望</a:t>
            </a:r>
          </a:p>
        </p:txBody>
      </p:sp>
      <p:sp>
        <p:nvSpPr>
          <p:cNvPr id="41" name="drawio2pptx:shape:p10_f1"/>
          <p:cNvSpPr/>
          <p:nvPr/>
        </p:nvSpPr>
        <p:spPr>
          <a:xfrm>
            <a:off x="11906250" y="5143500"/>
            <a:ext cx="5334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FFFFFF"/>
                </a:solidFill>
                <a:latin typeface="微软雅黑"/>
              </a:rPr>
              <a:t>→ 大规模真实路况数据集训练，提升泛化能力
→ 多传感器实时融合延迟优化（目标 &lt; 50ms）
→ 与自动驾驶决策层、预测层深度集成</a:t>
            </a:r>
          </a:p>
        </p:txBody>
      </p:sp>
      <p:sp>
        <p:nvSpPr>
          <p:cNvPr id="42" name="drawio2pptx:shape:p10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awio2pptx:shape:p10_footer"/>
          <p:cNvSpPr/>
          <p:nvPr/>
        </p:nvSpPr>
        <p:spPr>
          <a:xfrm>
            <a:off x="7620000" y="9944100"/>
            <a:ext cx="1028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Calibri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p1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p11_goldtop"/>
          <p:cNvSpPr/>
          <p:nvPr/>
        </p:nvSpPr>
        <p:spPr>
          <a:xfrm>
            <a:off x="0" y="0"/>
            <a:ext cx="18288000" cy="76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p11_goldbot"/>
          <p:cNvSpPr/>
          <p:nvPr/>
        </p:nvSpPr>
        <p:spPr>
          <a:xfrm>
            <a:off x="0" y="10210800"/>
            <a:ext cx="18288000" cy="76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p11_leftdeco"/>
          <p:cNvSpPr/>
          <p:nvPr/>
        </p:nvSpPr>
        <p:spPr>
          <a:xfrm>
            <a:off x="0" y="0"/>
            <a:ext cx="3810000" cy="10287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rawio2pptx:shape:p11_thanks"/>
          <p:cNvSpPr/>
          <p:nvPr/>
        </p:nvSpPr>
        <p:spPr>
          <a:xfrm>
            <a:off x="3810000" y="2667000"/>
            <a:ext cx="10668000" cy="133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u="none">
                <a:solidFill>
                  <a:srgbClr val="FFFFFF"/>
                </a:solidFill>
                <a:latin typeface="微软雅黑"/>
              </a:rPr>
              <a:t>谢谢各位老师！</a:t>
            </a:r>
          </a:p>
        </p:txBody>
      </p:sp>
      <p:sp>
        <p:nvSpPr>
          <p:cNvPr id="7" name="drawio2pptx:shape:p11_divider"/>
          <p:cNvSpPr/>
          <p:nvPr/>
        </p:nvSpPr>
        <p:spPr>
          <a:xfrm>
            <a:off x="5334000" y="4286250"/>
            <a:ext cx="7620000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p11_qa"/>
          <p:cNvSpPr/>
          <p:nvPr/>
        </p:nvSpPr>
        <p:spPr>
          <a:xfrm>
            <a:off x="6667500" y="4572000"/>
            <a:ext cx="4953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u="none">
                <a:solidFill>
                  <a:srgbClr val="C9A84C"/>
                </a:solidFill>
                <a:latin typeface="Georgia"/>
              </a:rPr>
              <a:t>Q &amp; A</a:t>
            </a:r>
          </a:p>
        </p:txBody>
      </p:sp>
      <p:sp>
        <p:nvSpPr>
          <p:cNvPr id="9" name="drawio2pptx:shape:p11_info"/>
          <p:cNvSpPr/>
          <p:nvPr/>
        </p:nvSpPr>
        <p:spPr>
          <a:xfrm>
            <a:off x="5334000" y="5905500"/>
            <a:ext cx="7620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汇报人：XXX　　指导老师：XXX 教授
计算机科学与技术学院 | 2026.03</a:t>
            </a:r>
          </a:p>
        </p:txBody>
      </p:sp>
      <p:sp>
        <p:nvSpPr>
          <p:cNvPr id="10" name="drawio2pptx:shape:p11_title_small"/>
          <p:cNvSpPr/>
          <p:nvPr/>
        </p:nvSpPr>
        <p:spPr>
          <a:xfrm>
            <a:off x="3810000" y="7048500"/>
            <a:ext cx="10668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基于深度学习与多传感器融合的自动驾驶路径规划方法研究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